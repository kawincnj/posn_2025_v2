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2" r:id="rId1"/>
    <p:sldMasterId id="2147483648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2" r:id="rId7"/>
    <p:sldId id="261" r:id="rId8"/>
    <p:sldId id="264" r:id="rId9"/>
    <p:sldId id="263" r:id="rId10"/>
  </p:sldIdLst>
  <p:sldSz cx="12192000" cy="6858000"/>
  <p:notesSz cx="6797675" cy="9926638"/>
  <p:embeddedFontLst>
    <p:embeddedFont>
      <p:font typeface="Google Sans" panose="020B0604020202020204" charset="0"/>
      <p:regular r:id="rId13"/>
      <p:bold r:id="rId14"/>
      <p:italic r:id="rId15"/>
      <p:boldItalic r:id="rId16"/>
    </p:embeddedFont>
    <p:embeddedFont>
      <p:font typeface="Google Sans Medium" panose="020B0604020202020204" charset="0"/>
      <p:regular r:id="rId17"/>
      <p:italic r:id="rId18"/>
    </p:embeddedFont>
    <p:embeddedFont>
      <p:font typeface="Noto Sans Thai Condensed" panose="020B0604020202020204" charset="-34"/>
      <p:regular r:id="rId19"/>
      <p:bold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12121"/>
    <a:srgbClr val="424242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45" autoAdjust="0"/>
    <p:restoredTop sz="62105" autoAdjust="0"/>
  </p:normalViewPr>
  <p:slideViewPr>
    <p:cSldViewPr>
      <p:cViewPr varScale="1">
        <p:scale>
          <a:sx n="75" d="100"/>
          <a:sy n="75" d="100"/>
        </p:scale>
        <p:origin x="201" y="27"/>
      </p:cViewPr>
      <p:guideLst/>
    </p:cSldViewPr>
  </p:slideViewPr>
  <p:outlineViewPr>
    <p:cViewPr>
      <p:scale>
        <a:sx n="33" d="100"/>
        <a:sy n="33" d="100"/>
      </p:scale>
      <p:origin x="0" y="-19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82" d="100"/>
          <a:sy n="82" d="100"/>
        </p:scale>
        <p:origin x="3000" y="-810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68388D-9600-4DD3-A5F2-04596646A2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38838" y="273572"/>
            <a:ext cx="5201001" cy="72974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/>
            </a:lvl1pPr>
          </a:lstStyle>
          <a:p>
            <a:endParaRPr lang="en-GB" dirty="0">
              <a:latin typeface="Google Sans Medium" panose="020B0603030502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C17E0-A9C4-4CE3-B94C-C202947C9E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39838" y="273569"/>
            <a:ext cx="1070501" cy="72974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/>
            </a:lvl1pPr>
          </a:lstStyle>
          <a:p>
            <a:r>
              <a:rPr lang="en-GB" dirty="0"/>
              <a:t>19/04/2022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72618-388C-4581-953C-76236A4E94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38838" y="9283321"/>
            <a:ext cx="5736251" cy="54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70CD0-C0EE-4D6C-B0C8-8B96B5B8D3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98838" y="9283321"/>
            <a:ext cx="535250" cy="54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FBB81-55B5-4041-A045-F40DE4CEC20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978145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GB" dirty="0"/>
              <a:t>20/10/2019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9725" y="644525"/>
            <a:ext cx="5951538" cy="3348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38837" y="4063320"/>
            <a:ext cx="6120000" cy="521999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0E400-1878-4966-A016-D1439F877F7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7026616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lnSpc>
        <a:spcPct val="150000"/>
      </a:lnSpc>
      <a:defRPr sz="1400" kern="1200">
        <a:solidFill>
          <a:schemeClr val="tx1"/>
        </a:solidFill>
        <a:latin typeface="Google Sans" panose="020B0503030502040204" pitchFamily="34" charset="0"/>
        <a:ea typeface="+mn-ea"/>
        <a:cs typeface="+mn-cs"/>
      </a:defRPr>
    </a:lvl1pPr>
    <a:lvl2pPr marL="457200" algn="l" defTabSz="914400" rtl="0" eaLnBrk="1" latinLnBrk="0" hangingPunct="1">
      <a:lnSpc>
        <a:spcPct val="150000"/>
      </a:lnSpc>
      <a:defRPr sz="1400" kern="1200">
        <a:solidFill>
          <a:schemeClr val="tx1"/>
        </a:solidFill>
        <a:latin typeface="Google Sans" panose="020B0503030502040204" pitchFamily="34" charset="0"/>
        <a:ea typeface="+mn-ea"/>
        <a:cs typeface="+mn-cs"/>
      </a:defRPr>
    </a:lvl2pPr>
    <a:lvl3pPr marL="914400" algn="l" defTabSz="914400" rtl="0" eaLnBrk="1" latinLnBrk="0" hangingPunct="1">
      <a:lnSpc>
        <a:spcPct val="150000"/>
      </a:lnSpc>
      <a:defRPr sz="1400" kern="1200">
        <a:solidFill>
          <a:schemeClr val="tx1"/>
        </a:solidFill>
        <a:latin typeface="Google Sans" panose="020B0503030502040204" pitchFamily="34" charset="0"/>
        <a:ea typeface="+mn-ea"/>
        <a:cs typeface="+mn-cs"/>
      </a:defRPr>
    </a:lvl3pPr>
    <a:lvl4pPr marL="1371600" algn="l" defTabSz="914400" rtl="0" eaLnBrk="1" latinLnBrk="0" hangingPunct="1">
      <a:lnSpc>
        <a:spcPct val="150000"/>
      </a:lnSpc>
      <a:defRPr sz="1400" kern="1200">
        <a:solidFill>
          <a:schemeClr val="tx1"/>
        </a:solidFill>
        <a:latin typeface="Google Sans" panose="020B0503030502040204" pitchFamily="34" charset="0"/>
        <a:ea typeface="+mn-ea"/>
        <a:cs typeface="+mn-cs"/>
      </a:defRPr>
    </a:lvl4pPr>
    <a:lvl5pPr marL="1828800" algn="l" defTabSz="914400" rtl="0" eaLnBrk="1" latinLnBrk="0" hangingPunct="1">
      <a:lnSpc>
        <a:spcPct val="150000"/>
      </a:lnSpc>
      <a:defRPr sz="1400" kern="1200">
        <a:solidFill>
          <a:schemeClr val="tx1"/>
        </a:solidFill>
        <a:latin typeface="Google Sans" panose="020B0503030502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487C-272A-4431-BA90-D1D1529E7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249000"/>
            <a:ext cx="11520000" cy="720000"/>
          </a:xfrm>
        </p:spPr>
        <p:txBody>
          <a:bodyPr anchor="t"/>
          <a:lstStyle>
            <a:lvl1pPr marL="0">
              <a:lnSpc>
                <a:spcPct val="1100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561CF72-0C95-4EF2-B28E-7955D115ED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000" y="4509000"/>
            <a:ext cx="11520000" cy="1980000"/>
          </a:xfrm>
        </p:spPr>
        <p:txBody>
          <a:bodyPr anchor="b">
            <a:norm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Author 1</a:t>
            </a:r>
            <a:br>
              <a:rPr lang="en-GB" dirty="0"/>
            </a:br>
            <a:r>
              <a:rPr lang="en-GB" dirty="0"/>
              <a:t>Author 2</a:t>
            </a:r>
            <a:br>
              <a:rPr lang="en-GB" dirty="0"/>
            </a:br>
            <a:r>
              <a:rPr lang="en-GB" dirty="0"/>
              <a:t>Author 3</a:t>
            </a:r>
            <a:br>
              <a:rPr lang="en-GB" dirty="0"/>
            </a:br>
            <a:r>
              <a:rPr lang="en-GB" dirty="0"/>
              <a:t>Author 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019CF-B107-4BD4-9570-70FFBF2FBA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2709000"/>
            <a:ext cx="1152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14348F-8E98-4012-91E1-8AB6E4E1D0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440" y="395534"/>
            <a:ext cx="1086101" cy="138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6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Title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561CF72-0C95-4EF2-B28E-7955D115ED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000" y="4509000"/>
            <a:ext cx="11520000" cy="1980000"/>
          </a:xfrm>
        </p:spPr>
        <p:txBody>
          <a:bodyPr anchor="b">
            <a:norm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Author 1</a:t>
            </a:r>
            <a:br>
              <a:rPr lang="en-GB" dirty="0"/>
            </a:br>
            <a:r>
              <a:rPr lang="en-GB" dirty="0"/>
              <a:t>Author 2</a:t>
            </a:r>
            <a:br>
              <a:rPr lang="en-GB" dirty="0"/>
            </a:br>
            <a:r>
              <a:rPr lang="en-GB" dirty="0"/>
              <a:t>Author 3</a:t>
            </a:r>
            <a:br>
              <a:rPr lang="en-GB" dirty="0"/>
            </a:br>
            <a:r>
              <a:rPr lang="en-GB" dirty="0"/>
              <a:t>Author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134351-852B-4F92-9E4B-F2E3A7C7A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249000"/>
            <a:ext cx="11520000" cy="720000"/>
          </a:xfrm>
        </p:spPr>
        <p:txBody>
          <a:bodyPr anchor="t"/>
          <a:lstStyle>
            <a:lvl1pPr marL="0">
              <a:lnSpc>
                <a:spcPct val="1100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17D7183-0369-417C-B9B5-416A2D93B1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2709000"/>
            <a:ext cx="1152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3350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2965E97-E03A-482B-83BE-4BBC14EC03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76000" y="369000"/>
            <a:ext cx="5580000" cy="5940000"/>
          </a:xfrm>
        </p:spPr>
        <p:txBody>
          <a:bodyPr>
            <a:normAutofit/>
          </a:bodyPr>
          <a:lstStyle>
            <a:lvl1pPr marL="0" indent="0">
              <a:spcAft>
                <a:spcPts val="2400"/>
              </a:spcAft>
              <a:buFontTx/>
              <a:buNone/>
              <a:defRPr sz="2800"/>
            </a:lvl1pPr>
          </a:lstStyle>
          <a:p>
            <a:r>
              <a:rPr lang="en-GB" dirty="0"/>
              <a:t>Title 1</a:t>
            </a:r>
          </a:p>
          <a:p>
            <a:r>
              <a:rPr lang="en-GB" dirty="0"/>
              <a:t>Title 2</a:t>
            </a:r>
          </a:p>
          <a:p>
            <a:r>
              <a:rPr lang="en-GB" dirty="0"/>
              <a:t>Title 3</a:t>
            </a:r>
          </a:p>
          <a:p>
            <a:r>
              <a:rPr lang="en-GB" dirty="0"/>
              <a:t>Title 4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1235C8-BB60-474E-9042-65F71043C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069000"/>
            <a:ext cx="558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B74D194-B5D8-4F88-B3AA-47415AAEC6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2529000"/>
            <a:ext cx="5580000" cy="540000"/>
          </a:xfrm>
        </p:spPr>
        <p:txBody>
          <a:bodyPr anchor="b">
            <a:normAutofit/>
          </a:bodyPr>
          <a:lstStyle>
            <a:lvl1pPr marL="0" algn="r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389746-EF37-3F77-9C2E-43A51AD4C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F49EA4-C029-ED97-A7F0-DE054958A1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20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(Title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2965E97-E03A-482B-83BE-4BBC14EC03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6000" y="189000"/>
            <a:ext cx="7020000" cy="6300000"/>
          </a:xfrm>
          <a:prstGeom prst="roundRect">
            <a:avLst>
              <a:gd name="adj" fmla="val 1899"/>
            </a:avLst>
          </a:prstGeo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1235C8-BB60-474E-9042-65F71043C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070323"/>
            <a:ext cx="414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B74D194-B5D8-4F88-B3AA-47415AAEC6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2529000"/>
            <a:ext cx="414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373526C-8A39-25FA-05AB-A88B3C875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56F89F8F-792D-8123-32FB-8B47B45A54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0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2965E97-E03A-482B-83BE-4BBC14EC03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6000" y="189000"/>
            <a:ext cx="7020000" cy="6300000"/>
          </a:xfrm>
          <a:prstGeom prst="roundRect">
            <a:avLst>
              <a:gd name="adj" fmla="val 1984"/>
            </a:avLst>
          </a:prstGeo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Point 1</a:t>
            </a:r>
          </a:p>
          <a:p>
            <a:pPr lvl="1"/>
            <a:r>
              <a:rPr lang="en-GB" dirty="0"/>
              <a:t>Text 1</a:t>
            </a:r>
          </a:p>
          <a:p>
            <a:pPr lvl="0"/>
            <a:r>
              <a:rPr lang="en-GB" dirty="0"/>
              <a:t>Point 2</a:t>
            </a:r>
          </a:p>
          <a:p>
            <a:pPr lvl="1"/>
            <a:r>
              <a:rPr lang="en-GB" dirty="0"/>
              <a:t>Text 2</a:t>
            </a:r>
          </a:p>
          <a:p>
            <a:pPr lvl="0"/>
            <a:r>
              <a:rPr lang="en-GB" dirty="0"/>
              <a:t>Point 3</a:t>
            </a:r>
          </a:p>
          <a:p>
            <a:pPr lvl="1"/>
            <a:r>
              <a:rPr lang="en-GB" dirty="0"/>
              <a:t>Text 3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1235C8-BB60-474E-9042-65F71043C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728912"/>
            <a:ext cx="4140000" cy="72008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B74D194-B5D8-4F88-B3AA-47415AAEC6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88912"/>
            <a:ext cx="414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043E33-27BE-4C48-8D22-A99A4A2758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1629000"/>
            <a:ext cx="4139300" cy="486000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pPr lvl="0"/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0E8E41-419A-CEE1-F943-B4A0216E5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109BE60-3DF3-541D-3428-FB90D1A1C8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26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(Long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2965E97-E03A-482B-83BE-4BBC14EC03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6000" y="1629000"/>
            <a:ext cx="7020000" cy="4860000"/>
          </a:xfrm>
          <a:prstGeom prst="roundRect">
            <a:avLst>
              <a:gd name="adj" fmla="val 2427"/>
            </a:avLst>
          </a:prstGeo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043E33-27BE-4C48-8D22-A99A4A2758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1629000"/>
            <a:ext cx="4139300" cy="486000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pPr lvl="0"/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2D17DBB-D2A5-4E24-8ADB-4B0583C39D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729000"/>
            <a:ext cx="1152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31A8A0-F4D8-48A6-A5D2-4A76B7F1FF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89000"/>
            <a:ext cx="1152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B9CC8D4-4BB1-C132-B78F-303E46DD0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A2239D2-421C-4262-E134-11C9B10B49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3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(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2965E97-E03A-482B-83BE-4BBC14EC03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76000" y="189000"/>
            <a:ext cx="5580000" cy="6300000"/>
          </a:xfrm>
          <a:prstGeom prst="roundRect">
            <a:avLst>
              <a:gd name="adj" fmla="val 1995"/>
            </a:avLst>
          </a:prstGeo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4E2456-5582-462B-9679-71F65C55B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729000"/>
            <a:ext cx="558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185E4E-3363-41E7-B657-16804BC3F1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89000"/>
            <a:ext cx="558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3B89817-E794-16A9-32CC-D4B99660E0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1629000"/>
            <a:ext cx="5580000" cy="486000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pPr lvl="0"/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4993DF-799E-B497-4C4E-19E5C3A84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1E0A15A-14E6-E342-D89C-EB19966D42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429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2965E97-E03A-482B-83BE-4BBC14EC03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76000" y="1629000"/>
            <a:ext cx="5580000" cy="4860000"/>
          </a:xfrm>
          <a:prstGeom prst="roundRect">
            <a:avLst>
              <a:gd name="adj" fmla="val 2556"/>
            </a:avLst>
          </a:prstGeo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4E2456-5582-462B-9679-71F65C55B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729000"/>
            <a:ext cx="1152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185E4E-3363-41E7-B657-16804BC3F1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89000"/>
            <a:ext cx="1152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1A2B37C-81C3-B079-EFDC-2A835259D28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6000" y="1629000"/>
            <a:ext cx="5580000" cy="4860000"/>
          </a:xfrm>
          <a:prstGeom prst="roundRect">
            <a:avLst>
              <a:gd name="adj" fmla="val 2446"/>
            </a:avLst>
          </a:prstGeo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DEC552F-E56D-1464-5FCF-FE620596D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954D65F-373C-D5B5-0D46-142D3C08D6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0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t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2965E97-E03A-482B-83BE-4BBC14EC03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56000" y="1629000"/>
            <a:ext cx="8100000" cy="4860327"/>
          </a:xfrm>
          <a:prstGeom prst="roundRect">
            <a:avLst>
              <a:gd name="adj" fmla="val 2534"/>
            </a:avLst>
          </a:prstGeo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4E2456-5582-462B-9679-71F65C55B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729000"/>
            <a:ext cx="1152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185E4E-3363-41E7-B657-16804BC3F1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89000"/>
            <a:ext cx="1152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5A67EC9-32F5-0F23-9122-C05BB7FA75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1629000"/>
            <a:ext cx="3084000" cy="486000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pPr lvl="0"/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7AC29B-9145-6F47-40D5-DD12BE1B3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8A80E1F-CB01-1096-6533-C6FEC8D9F9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22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61235C8-BB60-474E-9042-65F71043C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729000"/>
            <a:ext cx="1152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B74D194-B5D8-4F88-B3AA-47415AAEC6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89000"/>
            <a:ext cx="1152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E698FA25-0E08-428C-921A-A341FDED739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6000" y="1629000"/>
            <a:ext cx="11520000" cy="1260000"/>
          </a:xfrm>
        </p:spPr>
        <p:txBody>
          <a:bodyPr/>
          <a:lstStyle/>
          <a:p>
            <a:pPr lvl="0"/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6B1EB1E6-BBD1-47F8-8657-A48B7D1019E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000" y="3069000"/>
            <a:ext cx="11520000" cy="3420000"/>
          </a:xfrm>
          <a:prstGeom prst="roundRect">
            <a:avLst>
              <a:gd name="adj" fmla="val 3376"/>
            </a:avLst>
          </a:prstGeo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392AE02-E0C8-DF60-8593-3513BF4B1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17CE822-45F8-0D83-96BD-CAAD670B31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415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61235C8-BB60-474E-9042-65F71043C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729000"/>
            <a:ext cx="1152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B74D194-B5D8-4F88-B3AA-47415AAEC6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89000"/>
            <a:ext cx="1152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F1C76F7-5418-4DD7-8A52-09BD1B963F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000" y="1629000"/>
            <a:ext cx="11520000" cy="4860000"/>
          </a:xfrm>
          <a:prstGeom prst="roundRect">
            <a:avLst>
              <a:gd name="adj" fmla="val 2321"/>
            </a:avLst>
          </a:prstGeo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477B723-B578-BF12-AAE8-540A25947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9D33C9A-5821-AC2D-209B-41D9B1E8A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5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AA265E-7313-448A-8DE5-6BFDF50BE2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216942A-CB8D-4C91-8A1B-7E0C10493C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00" y="1809000"/>
            <a:ext cx="9360000" cy="3600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None/>
              <a:defRPr sz="3600" b="0">
                <a:latin typeface="Google Sans Medium" panose="020B0603030502040204" pitchFamily="34" charset="0"/>
              </a:defRPr>
            </a:lvl1pPr>
            <a:lvl2pPr marL="540000" indent="0" algn="ctr">
              <a:spcBef>
                <a:spcPts val="0"/>
              </a:spcBef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1F702-E78D-497F-8BEF-1B502B4EB9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6000" y="1269000"/>
            <a:ext cx="9360000" cy="540000"/>
          </a:xfrm>
        </p:spPr>
        <p:txBody>
          <a:bodyPr anchor="b">
            <a:normAutofit/>
          </a:bodyPr>
          <a:lstStyle>
            <a:lvl1pPr marL="0" algn="ctr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806935E-506D-3838-24FC-C9CB9D9C1D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856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2965E97-E03A-482B-83BE-4BBC14EC03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669000"/>
          </a:xfrm>
        </p:spPr>
        <p:txBody>
          <a:bodyPr/>
          <a:lstStyle/>
          <a:p>
            <a:pPr lvl="0"/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4FE4862-E287-37A2-F6EB-60B346DF3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60F74D6-53F4-E1D8-9C06-E1E958779A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98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4FE4862-E287-37A2-F6EB-60B346DF3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F396D95-979E-1DCE-3772-177347F4B6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89000"/>
            <a:ext cx="11496000" cy="180088"/>
          </a:xfrm>
        </p:spPr>
        <p:txBody>
          <a:bodyPr>
            <a:noAutofit/>
          </a:bodyPr>
          <a:lstStyle>
            <a:lvl1pPr algn="ctr">
              <a:defRPr sz="1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51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ap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61235C8-BB60-474E-9042-65F71043C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069000"/>
            <a:ext cx="180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Recap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B74D194-B5D8-4F88-B3AA-47415AAEC6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2529000"/>
            <a:ext cx="1800000" cy="540000"/>
          </a:xfrm>
        </p:spPr>
        <p:txBody>
          <a:bodyPr anchor="b">
            <a:normAutofit/>
          </a:bodyPr>
          <a:lstStyle>
            <a:lvl1pPr marL="0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The End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F58D2CB-72E7-48A6-BE23-DEF9D47CAD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96000" y="189000"/>
            <a:ext cx="9360000" cy="6300000"/>
          </a:xfrm>
        </p:spPr>
        <p:txBody>
          <a:bodyPr/>
          <a:lstStyle>
            <a:lvl1pPr marL="540000" indent="-540000"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Font typeface="Google Sans" panose="020B0503030502040204" pitchFamily="34" charset="0"/>
              <a:buChar char="■"/>
              <a:defRPr/>
            </a:lvl1pPr>
            <a:lvl2pPr marL="540000" inden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/>
            </a:lvl2pPr>
          </a:lstStyle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B2C5055-47A8-03BB-A02C-573A49E2B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tx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2173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?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61235C8-BB60-474E-9042-65F71043C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000" y="3249000"/>
            <a:ext cx="3060000" cy="720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4000"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B74D194-B5D8-4F88-B3AA-47415AAEC6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76000" y="2709000"/>
            <a:ext cx="3060000" cy="540000"/>
          </a:xfrm>
        </p:spPr>
        <p:txBody>
          <a:bodyPr anchor="b">
            <a:normAutofit/>
          </a:bodyPr>
          <a:lstStyle>
            <a:lvl1pPr marL="0" algn="ctr">
              <a:defRPr sz="2400" b="1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5F546C-BC19-ABC5-4685-AA5AB8434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tx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1888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57D3E-AF9F-4420-8A67-C095BBD6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189000"/>
            <a:ext cx="1152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EF24E-E237-48A3-8B4F-A69509F87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000" y="1269000"/>
            <a:ext cx="11520000" cy="52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620FBF-0B8C-4DA2-A502-590D1A3033D3}"/>
              </a:ext>
            </a:extLst>
          </p:cNvPr>
          <p:cNvSpPr/>
          <p:nvPr userDrawn="1"/>
        </p:nvSpPr>
        <p:spPr>
          <a:xfrm>
            <a:off x="0" y="6669000"/>
            <a:ext cx="12192000" cy="18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808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5" r:id="rId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EF24E-E237-48A3-8B4F-A69509F87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000" y="1269000"/>
            <a:ext cx="11520000" cy="52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57D3E-AF9F-4420-8A67-C095BBD6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189000"/>
            <a:ext cx="1152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620FBF-0B8C-4DA2-A502-590D1A3033D3}"/>
              </a:ext>
            </a:extLst>
          </p:cNvPr>
          <p:cNvSpPr/>
          <p:nvPr userDrawn="1"/>
        </p:nvSpPr>
        <p:spPr>
          <a:xfrm>
            <a:off x="0" y="6669000"/>
            <a:ext cx="12192000" cy="18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6511F-FA73-462E-B865-622CA50B9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lIns="91440" tIns="36000" rIns="91440" bIns="32400" rtlCol="0" anchor="b"/>
          <a:lstStyle>
            <a:lvl1pPr algn="ctr">
              <a:defRPr sz="2000" b="0">
                <a:solidFill>
                  <a:schemeClr val="bg1"/>
                </a:solidFill>
                <a:latin typeface="Google Sans Medium" panose="020B0603030502040204" pitchFamily="34" charset="0"/>
              </a:defRPr>
            </a:lvl1pPr>
          </a:lstStyle>
          <a:p>
            <a:fld id="{CF061D97-7436-4664-BEB1-EB1B6B6EDB0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409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6" r:id="rId2"/>
    <p:sldLayoutId id="2147483659" r:id="rId3"/>
    <p:sldLayoutId id="2147483680" r:id="rId4"/>
    <p:sldLayoutId id="2147483677" r:id="rId5"/>
    <p:sldLayoutId id="2147483672" r:id="rId6"/>
    <p:sldLayoutId id="2147483663" r:id="rId7"/>
    <p:sldLayoutId id="2147483679" r:id="rId8"/>
    <p:sldLayoutId id="2147483656" r:id="rId9"/>
    <p:sldLayoutId id="2147483664" r:id="rId10"/>
    <p:sldLayoutId id="2147483658" r:id="rId11"/>
    <p:sldLayoutId id="2147483681" r:id="rId12"/>
    <p:sldLayoutId id="2147483682" r:id="rId13"/>
    <p:sldLayoutId id="2147483673" r:id="rId1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+mj-lt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B5F2-C8CF-3401-5377-E3AFC95D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843914"/>
            <a:ext cx="11520000" cy="1980000"/>
          </a:xfrm>
        </p:spPr>
        <p:txBody>
          <a:bodyPr>
            <a:normAutofit fontScale="90000"/>
          </a:bodyPr>
          <a:lstStyle/>
          <a:p>
            <a:r>
              <a:rPr lang="th-TH" dirty="0"/>
              <a:t>ค่ายฝึกอบรมโครงการโอลิมปิกวิชาการ (สอวน.) ค่าย 2 </a:t>
            </a:r>
            <a:br>
              <a:rPr lang="en-US" dirty="0"/>
            </a:br>
            <a:r>
              <a:rPr lang="th-TH" dirty="0"/>
              <a:t>ปีการศึกษา 256</a:t>
            </a:r>
            <a:r>
              <a:rPr lang="en-US" dirty="0"/>
              <a:t>8</a:t>
            </a:r>
            <a:r>
              <a:rPr lang="th-TH" dirty="0"/>
              <a:t> ศูนย์ สอวน. มหาวิทยาลัยเกษตรศาสตร์ </a:t>
            </a:r>
            <a:br>
              <a:rPr lang="en-US" dirty="0"/>
            </a:br>
            <a:r>
              <a:rPr lang="th-TH" dirty="0"/>
              <a:t>วิชาคอมพิวเตอร์</a:t>
            </a:r>
            <a:br>
              <a:rPr lang="th-TH" dirty="0"/>
            </a:br>
            <a:br>
              <a:rPr lang="th-TH" dirty="0"/>
            </a:br>
            <a:endParaRPr lang="en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24AC8-81F1-F17D-8A38-D4E92FF66C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000" y="4509000"/>
            <a:ext cx="11520000" cy="1980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th-TH" b="1" dirty="0"/>
              <a:t>ภาควิชาวิทยาการคอมพิวเตอร์</a:t>
            </a:r>
          </a:p>
          <a:p>
            <a:pPr>
              <a:lnSpc>
                <a:spcPct val="100000"/>
              </a:lnSpc>
            </a:pPr>
            <a:r>
              <a:rPr lang="th-TH" dirty="0"/>
              <a:t>คณะวิทยาศาสตร์ มหาวิทยาลัยเกษตรศาสตร์</a:t>
            </a:r>
            <a:endParaRPr lang="en-T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E536F-496A-FC9B-CC17-ADA76489A2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000" y="2303914"/>
            <a:ext cx="11520000" cy="540000"/>
          </a:xfrm>
        </p:spPr>
        <p:txBody>
          <a:bodyPr>
            <a:normAutofit/>
          </a:bodyPr>
          <a:lstStyle/>
          <a:p>
            <a:r>
              <a:rPr lang="th-TH" dirty="0"/>
              <a:t>การปฐมนิเทศ ค่าย 2 วิชาคอมพิวเตอร์</a:t>
            </a:r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1910355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7EE7ECFF-BF6A-7E00-E6A6-CE9385B3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729000"/>
            <a:ext cx="11520000" cy="720000"/>
          </a:xfrm>
        </p:spPr>
        <p:txBody>
          <a:bodyPr/>
          <a:lstStyle/>
          <a:p>
            <a:r>
              <a:rPr lang="th-TH"/>
              <a:t>กำหนดการ</a:t>
            </a:r>
            <a:endParaRPr lang="en-TH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16A88E1-F128-BDD7-112E-E201AD96D8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th-TH"/>
              <a:t>การปฐมนิเทศ</a:t>
            </a:r>
            <a:r>
              <a:rPr lang="en-US"/>
              <a:t> </a:t>
            </a:r>
            <a:r>
              <a:rPr lang="th-TH"/>
              <a:t>ค่าย 2</a:t>
            </a:r>
            <a:r>
              <a:rPr lang="en-US"/>
              <a:t> </a:t>
            </a:r>
            <a:r>
              <a:rPr lang="th-TH"/>
              <a:t>วิชาคอมพิวเตอร์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B706-2218-4EF9-340E-2D4BA55AE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</p:spPr>
        <p:txBody>
          <a:bodyPr/>
          <a:lstStyle/>
          <a:p>
            <a:fld id="{CF061D97-7436-4664-BEB1-EB1B6B6EDB0B}" type="slidenum">
              <a:rPr lang="en-GB" smtClean="0">
                <a:latin typeface="+mj-lt"/>
              </a:rPr>
              <a:pPr/>
              <a:t>2</a:t>
            </a:fld>
            <a:endParaRPr lang="en-GB" dirty="0">
              <a:latin typeface="+mj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2C5E39-A9D5-73C4-D0AE-FF7DA0F6FD3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84024437"/>
              </p:ext>
            </p:extLst>
          </p:nvPr>
        </p:nvGraphicFramePr>
        <p:xfrm>
          <a:off x="516000" y="1269000"/>
          <a:ext cx="10800001" cy="5400004"/>
        </p:xfrm>
        <a:graphic>
          <a:graphicData uri="http://schemas.openxmlformats.org/drawingml/2006/table">
            <a:tbl>
              <a:tblPr/>
              <a:tblGrid>
                <a:gridCol w="1123243">
                  <a:extLst>
                    <a:ext uri="{9D8B030D-6E8A-4147-A177-3AD203B41FA5}">
                      <a16:colId xmlns:a16="http://schemas.microsoft.com/office/drawing/2014/main" val="3411491443"/>
                    </a:ext>
                  </a:extLst>
                </a:gridCol>
                <a:gridCol w="676757">
                  <a:extLst>
                    <a:ext uri="{9D8B030D-6E8A-4147-A177-3AD203B41FA5}">
                      <a16:colId xmlns:a16="http://schemas.microsoft.com/office/drawing/2014/main" val="9845380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0640846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137861800"/>
                    </a:ext>
                  </a:extLst>
                </a:gridCol>
                <a:gridCol w="2342394">
                  <a:extLst>
                    <a:ext uri="{9D8B030D-6E8A-4147-A177-3AD203B41FA5}">
                      <a16:colId xmlns:a16="http://schemas.microsoft.com/office/drawing/2014/main" val="981329730"/>
                    </a:ext>
                  </a:extLst>
                </a:gridCol>
                <a:gridCol w="2517607">
                  <a:extLst>
                    <a:ext uri="{9D8B030D-6E8A-4147-A177-3AD203B41FA5}">
                      <a16:colId xmlns:a16="http://schemas.microsoft.com/office/drawing/2014/main" val="2065968064"/>
                    </a:ext>
                  </a:extLst>
                </a:gridCol>
              </a:tblGrid>
              <a:tr h="2185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วัน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เดือน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วันที่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หัวข้อ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วิทยากร (09:00-12:00)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วิทยากร (13:00-16:00)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313478"/>
                  </a:ext>
                </a:extLst>
              </a:tr>
              <a:tr h="2897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เสาร์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14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C++ STL (Basic + Intermediate)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effectLst/>
                          <a:latin typeface="Roboto" panose="02000000000000000000" pitchFamily="2" charset="0"/>
                        </a:rPr>
                        <a:t>รศ.ดร.วรเศรษฐ สุวรรณิก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effectLst/>
                          <a:latin typeface="Roboto" panose="02000000000000000000" pitchFamily="2" charset="0"/>
                        </a:rPr>
                        <a:t>รศ.ดร.วรเศรษฐ สุวรรณิก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584675"/>
                  </a:ext>
                </a:extLst>
              </a:tr>
              <a:tr h="2185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อาทิตย์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15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C++ STL(Advanced)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effectLst/>
                          <a:latin typeface="Roboto" panose="02000000000000000000" pitchFamily="2" charset="0"/>
                        </a:rPr>
                        <a:t>รศ.ดร.วรเศรษฐ สุวรรณิก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effectLst/>
                          <a:latin typeface="Roboto" panose="02000000000000000000" pitchFamily="2" charset="0"/>
                        </a:rPr>
                        <a:t>รศ.ดร.วรเศรษฐ สุวรรณิก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956866"/>
                  </a:ext>
                </a:extLst>
              </a:tr>
              <a:tr h="3609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จันทร์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16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Linked Lists, Hashing, Stacks and Queues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ผศ.ดร.ชาคริต วัชโรภาส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ผศ.ดร.ชาคริต วัชโรภาส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956438"/>
                  </a:ext>
                </a:extLst>
              </a:tr>
              <a:tr h="3609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อังคาร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17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Sorting Algorithms and Complexity </a:t>
                      </a:r>
                      <a:r>
                        <a:rPr lang="en-US" sz="12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nalysis</a:t>
                      </a:r>
                      <a:endParaRPr lang="en-US" sz="1200" b="0" dirty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ผศ.ดร.อรวรรณ อิ่มสมบัติ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ผศ.ดร.อรวรรณ อิ่มสมบัติ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6723"/>
                  </a:ext>
                </a:extLst>
              </a:tr>
              <a:tr h="2185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พุธ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18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Trees, </a:t>
                      </a:r>
                      <a:r>
                        <a:rPr lang="en-US" sz="1050" b="0" i="0">
                          <a:solidFill>
                            <a:srgbClr val="FF0000"/>
                          </a:solidFill>
                          <a:effectLst/>
                          <a:latin typeface="Roboto" panose="02000000000000000000" pitchFamily="2" charset="0"/>
                        </a:rPr>
                        <a:t>Spanning Tree</a:t>
                      </a:r>
                      <a:r>
                        <a:rPr lang="en-US" sz="1050" b="0" i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, Binary Search Tree, Heaps</a:t>
                      </a:r>
                      <a:endParaRPr lang="en-US" sz="1200" b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ดร.ธนบูรณ์ ทองบัวศิริไล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ดร.ธนบูรณ์ ทองบัวศิริไล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01692"/>
                  </a:ext>
                </a:extLst>
              </a:tr>
              <a:tr h="2185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พุฤหัสบดี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19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Review 1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อ.สุทธิพงษ์ หมื่นตาบุตร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อ.ศรชัย ลักษณะปีติ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285314"/>
                  </a:ext>
                </a:extLst>
              </a:tr>
              <a:tr h="3609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ศุกร์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20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State Space Search, Exhaustive Search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ผศ.ดร.นพดล จันทร์เอี่ยม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ผศ.ดร.นพดล จันทร์เอี่ยม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996133"/>
                  </a:ext>
                </a:extLst>
              </a:tr>
              <a:tr h="5745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เสาร์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21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Bitsets, Bitmarks, Range Sum/Max/Min Query, Union-Find, Disjoint-Set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ผศ.ดร.อุษา สัมมาพันธ์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ผศ.ดร.อุษา สัมมาพันธ์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02110"/>
                  </a:ext>
                </a:extLst>
              </a:tr>
              <a:tr h="5745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อาทิตย์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22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String/Pattern Matching: KMP, Rarbin-Karp, Horspool’s Algorithms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ผศ.ดร.อุษา สัมมาพันธ์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ผศ.ดร.อุษา สัมมาพันธ์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51697"/>
                  </a:ext>
                </a:extLst>
              </a:tr>
              <a:tr h="2185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จันทร์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23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i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Greedy Algorithms</a:t>
                      </a:r>
                      <a:r>
                        <a:rPr lang="en-US" sz="1050" b="0" i="0">
                          <a:solidFill>
                            <a:srgbClr val="FF0000"/>
                          </a:solidFill>
                          <a:effectLst/>
                          <a:latin typeface="Roboto" panose="02000000000000000000" pitchFamily="2" charset="0"/>
                        </a:rPr>
                        <a:t>, Divide and Conquer</a:t>
                      </a:r>
                      <a:endParaRPr lang="en-US" sz="1200" b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ผศ.ดร.อรวรรณ อิ่มสมบัติ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ผศ.ดร.อรวรรณ อิ่มสมบัติ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344142"/>
                  </a:ext>
                </a:extLst>
              </a:tr>
              <a:tr h="4321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อังคาร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24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Graph Algorithms: Definition, Adjacency Matrix/List, DFS, BFS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ผศ.ดร.เสฎฐวิทย์ เกิดผล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ผศ.ดร.เสฎฐวิทย์ เกิดผล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92449"/>
                  </a:ext>
                </a:extLst>
              </a:tr>
              <a:tr h="5554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Roboto" panose="02000000000000000000" pitchFamily="2" charset="0"/>
                        </a:rPr>
                        <a:t>พุธ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Roboto" panose="02000000000000000000" pitchFamily="2" charset="0"/>
                        </a:rPr>
                        <a:t>25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Roboto" panose="02000000000000000000" pitchFamily="2" charset="0"/>
                        </a:rPr>
                        <a:t>Graph Algorithms: MST, Kruskal’s, Prim’s Dijkstra’s Algorithms, TSP, Topological Sort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Roboto" panose="02000000000000000000" pitchFamily="2" charset="0"/>
                        </a:rPr>
                        <a:t>ผศ.ดร.เสฎฐวิทย์ เกิดผล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Roboto" panose="02000000000000000000" pitchFamily="2" charset="0"/>
                        </a:rPr>
                        <a:t>ผศ.ดร.เสฎฐวิทย์ เกิดผล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110795"/>
                  </a:ext>
                </a:extLst>
              </a:tr>
              <a:tr h="2185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พุฤหัสบดี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26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Dynamic Programming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อ.สุนทรี คุ้มไพโรจน์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อ.สุนทรี คุ้มไพโรจน์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17896"/>
                  </a:ext>
                </a:extLst>
              </a:tr>
              <a:tr h="2185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ศุกร์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27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Review 2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อ.สุทธิพงษ์ หมื่นตาบุตร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อ.ศรชัย ลักษณะปีติ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878031"/>
                  </a:ext>
                </a:extLst>
              </a:tr>
              <a:tr h="3609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เสาร์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มี.ค.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28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Exam and Closing Ceremony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รศ.ดร.เทพฤทธิ์ บัณฑิตวัฒนาวงศ์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h-TH" sz="12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อ.สมโชค เรืองอิทธินันท์</a:t>
                      </a:r>
                    </a:p>
                  </a:txBody>
                  <a:tcPr marL="8643" marR="8643" marT="2161" marB="2161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5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359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FBBD-612C-B0ED-151C-2490533A8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729000"/>
            <a:ext cx="11520000" cy="720000"/>
          </a:xfrm>
        </p:spPr>
        <p:txBody>
          <a:bodyPr>
            <a:normAutofit/>
          </a:bodyPr>
          <a:lstStyle/>
          <a:p>
            <a:r>
              <a:rPr lang="th-TH"/>
              <a:t>กิจกรรมสำคัญ</a:t>
            </a:r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9CCE68A6-9691-A346-4A9A-4BD63BFF7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th-TH" dirty="0"/>
              <a:t>การปฐมนิเทศ</a:t>
            </a:r>
            <a:r>
              <a:rPr lang="en-US" dirty="0"/>
              <a:t> </a:t>
            </a:r>
            <a:r>
              <a:rPr lang="th-TH" dirty="0"/>
              <a:t>ค่าย 2</a:t>
            </a:r>
            <a:r>
              <a:rPr lang="en-US" dirty="0"/>
              <a:t> </a:t>
            </a:r>
            <a:r>
              <a:rPr lang="th-TH" dirty="0"/>
              <a:t>วิชาคอมพิวเตอร์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AACF6-C015-AA49-6B87-BC9DF448DC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" y="1629000"/>
            <a:ext cx="11520000" cy="4860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Review 1: </a:t>
            </a:r>
            <a:r>
              <a:rPr lang="th-TH" dirty="0"/>
              <a:t>พฤหัสบดีที่ 19 มีนาคม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Review 2: </a:t>
            </a:r>
            <a:r>
              <a:rPr lang="th-TH" dirty="0"/>
              <a:t>ศุกร์ที่ 27</a:t>
            </a:r>
            <a:r>
              <a:rPr lang="en-US" dirty="0"/>
              <a:t> </a:t>
            </a:r>
            <a:r>
              <a:rPr lang="th-TH" dirty="0"/>
              <a:t>มีนาคม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Exam: </a:t>
            </a:r>
            <a:r>
              <a:rPr lang="th-TH" dirty="0"/>
              <a:t>เสาร์ที่ 28 มีนาคม</a:t>
            </a:r>
            <a:r>
              <a:rPr lang="en-US" dirty="0"/>
              <a:t> </a:t>
            </a:r>
            <a:r>
              <a:rPr lang="th-TH" dirty="0"/>
              <a:t>สอบคัดเลือกเวลา 9.00-13.00</a:t>
            </a:r>
            <a:r>
              <a:rPr lang="en-US" dirty="0"/>
              <a:t> </a:t>
            </a:r>
            <a:r>
              <a:rPr lang="th-TH" dirty="0"/>
              <a:t>น.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th-TH" sz="2400" b="1" u="sng" dirty="0"/>
              <a:t>หมายเหตุ: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sz="2400" dirty="0"/>
              <a:t>นักเรียนที่เข้าอบรมค่ายสองต้องปฏิบัติตามระเบียบค่ายอย่างเคร่งครัด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sz="2400" dirty="0"/>
              <a:t>นักเรียนฟอสซิลให้มาเข้าร่วมเฉพาะวันเสาร์ที่ 14 มีนาคม ช่วงพิธีเปิดเพื่อรับฟังคำชี้แจง และวันเสาร์ที่ 28มีนาคม เพื่อเข้าร่วมการสอบคัดเลือกตัวแทน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sz="2400" dirty="0"/>
              <a:t>นักเรียนฟอสซิลจะไม่รับสิทธิ์การใช้งาน </a:t>
            </a:r>
            <a:r>
              <a:rPr lang="en-US" sz="2400" dirty="0"/>
              <a:t>internal grader </a:t>
            </a:r>
            <a:r>
              <a:rPr lang="th-TH" sz="2400" dirty="0"/>
              <a:t>และการเข้าถึงซึ่ง </a:t>
            </a:r>
            <a:r>
              <a:rPr lang="en-US" sz="2400" dirty="0"/>
              <a:t>material </a:t>
            </a:r>
            <a:r>
              <a:rPr lang="th-TH" sz="2400" dirty="0"/>
              <a:t>ใดๆ ระหว่างการอบรม ยกเว้นเอกสการชี้แจงการปฐมนิเทศ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5B990-9583-57FD-A245-0CACE5BE0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</p:spPr>
        <p:txBody>
          <a:bodyPr/>
          <a:lstStyle/>
          <a:p>
            <a:fld id="{CF061D97-7436-4664-BEB1-EB1B6B6EDB0B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3508F515-3984-7EB9-A24C-7619D1960C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1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2DCF8-10EA-06FA-2845-2CB20E86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729000"/>
            <a:ext cx="11520000" cy="720000"/>
          </a:xfrm>
        </p:spPr>
        <p:txBody>
          <a:bodyPr>
            <a:normAutofit/>
          </a:bodyPr>
          <a:lstStyle/>
          <a:p>
            <a:r>
              <a:rPr lang="th-TH" dirty="0"/>
              <a:t>เกณฑ์การผ่านค่าย 2 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7DF11D-5F1D-6681-7D7D-3FD13DDC74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th-TH" dirty="0"/>
              <a:t>การปฐมนิเทศ</a:t>
            </a:r>
            <a:r>
              <a:rPr lang="en-US" dirty="0"/>
              <a:t> </a:t>
            </a:r>
            <a:r>
              <a:rPr lang="th-TH" dirty="0"/>
              <a:t>ค่าย 2</a:t>
            </a:r>
            <a:r>
              <a:rPr lang="en-US" dirty="0"/>
              <a:t> </a:t>
            </a:r>
            <a:r>
              <a:rPr lang="th-TH" dirty="0"/>
              <a:t>วิชาคอมพิวเตอร์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9A523-6593-8C32-45AF-F44048C8DC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" y="1629000"/>
            <a:ext cx="11520000" cy="4860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เข้าเรียนเกินกว่า 80% (ลาได้ไม่เกิน 3 วัน)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คะแนนความประพฤติมากกว่า 90%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ไม่อนุญาตให้ขาดเรียนโดยไม่ระบุเหตุผล (ต้องทำเรื่องลาเท่านั้น)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กรณีลากิจให้เขียนจดหมายแจ้งลาล่วงหน้า (ส่งได้ที่วิทยากร หรือผู้ช่วยวิทยากร)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กรณีลาป่วย สามารถเขียนจดหมายชี้แจ้งลาย้อนหลังได้ (ต้องมีใบรับรองแพทย์ประกอบ)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ทำโจทย์วัน </a:t>
            </a:r>
            <a:r>
              <a:rPr lang="en-US" dirty="0"/>
              <a:t>Review 1 </a:t>
            </a:r>
            <a:r>
              <a:rPr lang="th-TH" dirty="0"/>
              <a:t>ได้ไม่ต่ำกว่า 40% (คิดเป็นจำนวนข้อ)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ทำโจทย์วัน </a:t>
            </a:r>
            <a:r>
              <a:rPr lang="en-US" dirty="0"/>
              <a:t>Review 2 </a:t>
            </a:r>
            <a:r>
              <a:rPr lang="th-TH" dirty="0"/>
              <a:t>ได้ไม่ต่ำกว่า 40% (คิดเป็นจำนวนข้อ)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EDB2C-57BC-941A-7381-B670C8CC7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</p:spPr>
        <p:txBody>
          <a:bodyPr/>
          <a:lstStyle/>
          <a:p>
            <a:fld id="{CF061D97-7436-4664-BEB1-EB1B6B6EDB0B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3DDA3A3-34BE-5936-1C28-798F04373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3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2765-F3CE-EC4D-038C-3E26F66D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ED14-5267-D86E-952C-BB13E7711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729000"/>
            <a:ext cx="11520000" cy="720000"/>
          </a:xfrm>
        </p:spPr>
        <p:txBody>
          <a:bodyPr>
            <a:normAutofit/>
          </a:bodyPr>
          <a:lstStyle/>
          <a:p>
            <a:r>
              <a:rPr lang="th-TH" dirty="0"/>
              <a:t>คะแนนความประพฤติ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ED3A06-60DE-3C1F-F3C2-C1487BC34A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th-TH" dirty="0"/>
              <a:t>การปฐมนิเทศ</a:t>
            </a:r>
            <a:r>
              <a:rPr lang="en-US" dirty="0"/>
              <a:t> </a:t>
            </a:r>
            <a:r>
              <a:rPr lang="th-TH" dirty="0"/>
              <a:t>ค่าย 2</a:t>
            </a:r>
            <a:r>
              <a:rPr lang="en-US" dirty="0"/>
              <a:t> </a:t>
            </a:r>
            <a:r>
              <a:rPr lang="th-TH" dirty="0"/>
              <a:t>วิชาคอมพิวเตอร์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CA558-82E7-294F-E5B8-225E1D6B07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" y="1629000"/>
            <a:ext cx="11520000" cy="486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นักเรียนแต่ละคนจะได้คะแนนความประพฤติเต็ม 100% ตั้งแต่วันแรกของการอบรม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นักเรียนที่จะผ่านค่ายต้องได้รับคะแนนความประพฤติตั้งแต่ 90% ขึ้นไป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การตัดคะแนนความประพฤติ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th-TH" dirty="0"/>
              <a:t>ขาดโดยไม่ทำจดหมายแจ้งล่วงหน้า ตัดคะแนน 5% ต่อครั้ง</a:t>
            </a:r>
          </a:p>
          <a:p>
            <a:pPr lvl="1" indent="360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th-TH" dirty="0"/>
              <a:t>เสียงดังระหว่างการอบรม 5% ตัดคะแนนต่อครั้ง</a:t>
            </a:r>
          </a:p>
          <a:p>
            <a:pPr lvl="1" indent="360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th-TH" dirty="0"/>
              <a:t>ตั้งใจก่อกวนการอบรมระว่างค่าย ตัดคะแนนความประพฤติทั้งหมด และเชิญออกจากค่าย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AD237-2800-389F-FE5C-005A1652A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</p:spPr>
        <p:txBody>
          <a:bodyPr/>
          <a:lstStyle/>
          <a:p>
            <a:fld id="{CF061D97-7436-4664-BEB1-EB1B6B6EDB0B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AAEFB7F-66FA-BD27-5C71-5042704CA2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3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EC09E-5DB9-D1A7-87CE-DE7AB187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8868-7F15-5D4D-0846-B98B3AE1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729000"/>
            <a:ext cx="11520000" cy="720000"/>
          </a:xfrm>
        </p:spPr>
        <p:txBody>
          <a:bodyPr>
            <a:normAutofit/>
          </a:bodyPr>
          <a:lstStyle/>
          <a:p>
            <a:r>
              <a:rPr lang="th-TH" dirty="0"/>
              <a:t>การสอบคัดเลือกนักเรียนผู้แทนศูนย์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616F7D-9DE4-C76B-5409-B473D1754D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th-TH" dirty="0"/>
              <a:t>การปฐมนิเทศ</a:t>
            </a:r>
            <a:r>
              <a:rPr lang="en-US" dirty="0"/>
              <a:t> </a:t>
            </a:r>
            <a:r>
              <a:rPr lang="th-TH" dirty="0"/>
              <a:t>ค่าย 2</a:t>
            </a:r>
            <a:r>
              <a:rPr lang="en-US" dirty="0"/>
              <a:t> </a:t>
            </a:r>
            <a:r>
              <a:rPr lang="th-TH" dirty="0"/>
              <a:t>วิชาคอมพิวเตอร์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10A06-6089-168C-2695-726907A8D7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" y="1629000"/>
            <a:ext cx="11520000" cy="48600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th-TH" dirty="0"/>
              <a:t>สอบโจทย์โปรแกรมผ่านระบบ </a:t>
            </a:r>
            <a:r>
              <a:rPr lang="en-US" dirty="0"/>
              <a:t>Grader </a:t>
            </a:r>
            <a:r>
              <a:rPr lang="th-TH" dirty="0"/>
              <a:t>ในวันเสาร์ที่ 28 มีนาคม เวลา 9.00-13.00 น. (สอบรวม 4 ชั่วโมง ฉะนั้นควรเตรียมร่างกายให้พร้อม เตรียมทานอาหารให้เต็มที่)</a:t>
            </a:r>
          </a:p>
          <a:p>
            <a:pPr>
              <a:buFont typeface="+mj-lt"/>
              <a:buAutoNum type="arabicPeriod"/>
            </a:pPr>
            <a:r>
              <a:rPr lang="th-TH" dirty="0"/>
              <a:t>นักเรียนทุกคนต้องรายงานตัวเตรียมสอบก่อนเวลาจริง 15 นาที (ช่วง 8.45-9.00</a:t>
            </a:r>
            <a:r>
              <a:rPr lang="en-US" dirty="0"/>
              <a:t> </a:t>
            </a:r>
            <a:r>
              <a:rPr lang="th-TH" dirty="0"/>
              <a:t>น.)</a:t>
            </a:r>
          </a:p>
          <a:p>
            <a:pPr>
              <a:buFont typeface="+mj-lt"/>
              <a:buAutoNum type="arabicPeriod"/>
            </a:pPr>
            <a:r>
              <a:rPr lang="th-TH" dirty="0"/>
              <a:t>การจัดสอบจะถูกจัดขึ้นในสภาพแวดล้อมแบบปิด (</a:t>
            </a:r>
            <a:r>
              <a:rPr lang="en-US" dirty="0"/>
              <a:t>no internet access)</a:t>
            </a:r>
          </a:p>
          <a:p>
            <a:pPr>
              <a:buFont typeface="+mj-lt"/>
              <a:buAutoNum type="arabicPeriod"/>
            </a:pPr>
            <a:r>
              <a:rPr lang="th-TH" dirty="0"/>
              <a:t>นักเรียนถูกห้ามให้ใช้งานอุปกรณ์สื่อสารใดๆ รวมถึง </a:t>
            </a:r>
            <a:r>
              <a:rPr lang="en-US" dirty="0"/>
              <a:t>internet </a:t>
            </a:r>
            <a:r>
              <a:rPr lang="th-TH" dirty="0"/>
              <a:t>ระหว่างการสอบ </a:t>
            </a:r>
          </a:p>
          <a:p>
            <a:pPr>
              <a:buFont typeface="+mj-lt"/>
              <a:buAutoNum type="arabicPeriod"/>
            </a:pPr>
            <a:r>
              <a:rPr lang="th-TH" dirty="0"/>
              <a:t>ผลการสอบถือเป็นที่สิ้นสุดไม่ว่ากรณีใดๆ</a:t>
            </a:r>
          </a:p>
          <a:p>
            <a:pPr>
              <a:buFont typeface="+mj-lt"/>
              <a:buAutoNum type="arabicPeriod"/>
            </a:pPr>
            <a:r>
              <a:rPr lang="th-TH" dirty="0"/>
              <a:t>ทางศูนย์จะแจ้งผลการสอบอย่างเป็นทางการภายใน 20 วัน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B3931-9418-53A6-1E45-4205C9B0B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496000" y="6489000"/>
            <a:ext cx="696000" cy="369000"/>
          </a:xfrm>
        </p:spPr>
        <p:txBody>
          <a:bodyPr/>
          <a:lstStyle/>
          <a:p>
            <a:fld id="{CF061D97-7436-4664-BEB1-EB1B6B6EDB0B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8E8CECA-738E-3A23-C207-5D1A1BFF5B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8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87FB-0B9A-5612-4F4A-023BBE04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ข้อกำหนดที่สำคัญที่สุด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5D767-6B60-D6E3-C19C-96C02CFC7F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th-TH" dirty="0"/>
              <a:t>การปฐมนิเทศ ค่าย 2 วิชาคอมพิวเตอร์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8D979-A413-5866-0365-174FC45839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3200" dirty="0"/>
              <a:t>"ในกรณีที่เกิดปัญหา ข้อโต้แย้ง ข้อพิพาท หรือกรณีอื่นใดอันนอกเหนือจากที่ได้กำหนดไว้ในระเบียบการนี้ ให้คำวินิจฉัยและคำตัดสินของคณะกรรมการผู้จัดโครงการ สอวน. ค่าย 2 ปีการศึกษา 2568 ถือเป็นเด็ดขาดและเป็นที่สุด</a:t>
            </a:r>
          </a:p>
          <a:p>
            <a:pPr marL="0" indent="0">
              <a:buNone/>
            </a:pPr>
            <a:r>
              <a:rPr lang="th-TH" sz="3200" dirty="0"/>
              <a:t>ผู้เข้าร่วมโครงการและผู้ที่เกี่ยวข้องทุกฝ่ายตกลงที่จะไม่โต้แย้ง ไม่ว่าด้วยวาจาหรือลายลักษณ์อักษร และให้สละสิทธิ์ในการอุทธรณ์คำวินิจฉัยดังกล่าว รวมทั้งสละสิทธิ์ในการฟ้องร้องดำเนินคดีต่อคณะกรรมการหรือผู้ที่เกี่ยวข้อง ไม่ว่าในทางแพ่ง ทางอาญา หรือทางปกครอง เพื่อเรียกร้องความรับผิดหรือค่าเสียหายใดๆ ทั้งสิ้น"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5E4CC-DC5A-34DC-BF23-10AE17EE6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061D97-7436-4664-BEB1-EB1B6B6EDB0B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91B8A2-3837-007A-D0B7-391B61D3A8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35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FC26-2136-3989-936F-B980BABF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3069000"/>
            <a:ext cx="4680000" cy="720000"/>
          </a:xfrm>
        </p:spPr>
        <p:txBody>
          <a:bodyPr>
            <a:noAutofit/>
          </a:bodyPr>
          <a:lstStyle/>
          <a:p>
            <a:r>
              <a:rPr lang="en-TH" sz="2800" dirty="0"/>
              <a:t>https://kasets.art/tCW32W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AE395-A809-0CD9-5C9A-EB962F8A42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000" y="2529000"/>
            <a:ext cx="4680000" cy="540000"/>
          </a:xfrm>
        </p:spPr>
        <p:txBody>
          <a:bodyPr>
            <a:normAutofit/>
          </a:bodyPr>
          <a:lstStyle/>
          <a:p>
            <a:r>
              <a:rPr lang="th-TH"/>
              <a:t>ดาวน์โหลดเอกสารนี้</a:t>
            </a:r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16095-A3B2-272C-F2E1-533A40C4E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061D97-7436-4664-BEB1-EB1B6B6EDB0B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7" name="Content Placeholder 6" descr="The image depicts a QR code, a two-dimensional barcode that can be scanned by a QR reader to reveal specific information.&#10;&#10;AI-generated content may be incorrect.">
            <a:extLst>
              <a:ext uri="{FF2B5EF4-FFF2-40B4-BE49-F238E27FC236}">
                <a16:creationId xmlns:a16="http://schemas.microsoft.com/office/drawing/2014/main" id="{E8D4DF4C-85E9-920A-58A6-59D7B1231C2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000" y="189000"/>
            <a:ext cx="630000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53768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People">
      <a:dk1>
        <a:srgbClr val="333333"/>
      </a:dk1>
      <a:lt1>
        <a:srgbClr val="FFFFFF"/>
      </a:lt1>
      <a:dk2>
        <a:srgbClr val="555555"/>
      </a:dk2>
      <a:lt2>
        <a:srgbClr val="EEEEEE"/>
      </a:lt2>
      <a:accent1>
        <a:srgbClr val="FF6400"/>
      </a:accent1>
      <a:accent2>
        <a:srgbClr val="E63200"/>
      </a:accent2>
      <a:accent3>
        <a:srgbClr val="20609D"/>
      </a:accent3>
      <a:accent4>
        <a:srgbClr val="0F4981"/>
      </a:accent4>
      <a:accent5>
        <a:srgbClr val="068659"/>
      </a:accent5>
      <a:accent6>
        <a:srgbClr val="006A45"/>
      </a:accent6>
      <a:hlink>
        <a:srgbClr val="4361EE"/>
      </a:hlink>
      <a:folHlink>
        <a:srgbClr val="3A0CA3"/>
      </a:folHlink>
    </a:clrScheme>
    <a:fontScheme name="Thai">
      <a:majorFont>
        <a:latin typeface="Noto Sans Thai Condensed"/>
        <a:ea typeface=""/>
        <a:cs typeface="Noto Sans Thai Condensed"/>
      </a:majorFont>
      <a:minorFont>
        <a:latin typeface="Noto Sans Thai Condensed"/>
        <a:ea typeface=""/>
        <a:cs typeface="Noto Sans Thai Condense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">
  <a:themeElements>
    <a:clrScheme name="People">
      <a:dk1>
        <a:srgbClr val="333333"/>
      </a:dk1>
      <a:lt1>
        <a:srgbClr val="FFFFFF"/>
      </a:lt1>
      <a:dk2>
        <a:srgbClr val="555555"/>
      </a:dk2>
      <a:lt2>
        <a:srgbClr val="EEEEEE"/>
      </a:lt2>
      <a:accent1>
        <a:srgbClr val="FF6400"/>
      </a:accent1>
      <a:accent2>
        <a:srgbClr val="E63200"/>
      </a:accent2>
      <a:accent3>
        <a:srgbClr val="20609D"/>
      </a:accent3>
      <a:accent4>
        <a:srgbClr val="0F4981"/>
      </a:accent4>
      <a:accent5>
        <a:srgbClr val="068659"/>
      </a:accent5>
      <a:accent6>
        <a:srgbClr val="006A45"/>
      </a:accent6>
      <a:hlink>
        <a:srgbClr val="4361EE"/>
      </a:hlink>
      <a:folHlink>
        <a:srgbClr val="3A0CA3"/>
      </a:folHlink>
    </a:clrScheme>
    <a:fontScheme name="Thai">
      <a:majorFont>
        <a:latin typeface="Noto Sans Thai Condensed"/>
        <a:ea typeface=""/>
        <a:cs typeface="Noto Sans Thai Condensed"/>
      </a:majorFont>
      <a:minorFont>
        <a:latin typeface="Noto Sans Thai Condensed"/>
        <a:ea typeface=""/>
        <a:cs typeface="Noto Sans Thai Condense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ogle Sans">
      <a:majorFont>
        <a:latin typeface="Google Sans"/>
        <a:ea typeface=""/>
        <a:cs typeface="Leelawadee"/>
      </a:majorFont>
      <a:minorFont>
        <a:latin typeface="Google Sans"/>
        <a:ea typeface=""/>
        <a:cs typeface="Leelawade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947</Words>
  <Application>Microsoft Office PowerPoint</Application>
  <PresentationFormat>Widescreen</PresentationFormat>
  <Paragraphs>149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Roboto</vt:lpstr>
      <vt:lpstr>Noto Sans Thai Condensed</vt:lpstr>
      <vt:lpstr>Arial</vt:lpstr>
      <vt:lpstr>Calibri</vt:lpstr>
      <vt:lpstr>Google Sans</vt:lpstr>
      <vt:lpstr>Google Sans Medium</vt:lpstr>
      <vt:lpstr>Title</vt:lpstr>
      <vt:lpstr>Content</vt:lpstr>
      <vt:lpstr>ค่ายฝึกอบรมโครงการโอลิมปิกวิชาการ (สอวน.) ค่าย 2  ปีการศึกษา 2568 ศูนย์ สอวน. มหาวิทยาลัยเกษตรศาสตร์  วิชาคอมพิวเตอร์  </vt:lpstr>
      <vt:lpstr>กำหนดการ</vt:lpstr>
      <vt:lpstr>กิจกรรมสำคัญ</vt:lpstr>
      <vt:lpstr>เกณฑ์การผ่านค่าย 2 </vt:lpstr>
      <vt:lpstr>คะแนนความประพฤติ</vt:lpstr>
      <vt:lpstr>การสอบคัดเลือกนักเรียนผู้แทนศูนย์</vt:lpstr>
      <vt:lpstr>ข้อกำหนดที่สำคัญที่สุด</vt:lpstr>
      <vt:lpstr>https://kasets.art/tCW32W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Tanaboon TONGBUASIRILAI</cp:lastModifiedBy>
  <cp:revision>28</cp:revision>
  <dcterms:created xsi:type="dcterms:W3CDTF">2022-03-31T03:12:22Z</dcterms:created>
  <dcterms:modified xsi:type="dcterms:W3CDTF">2026-03-12T08:58:47Z</dcterms:modified>
</cp:coreProperties>
</file>